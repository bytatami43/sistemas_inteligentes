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1" name="Google Shape;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cac4292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cac42928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4cac42928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4cac42928_3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4cac42928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4cac42928_3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cac4292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cac4292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4cac4292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cac42928_46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cac42928_46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4cac42928_46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cac42928_46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4cac42928_46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4cac42928_46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9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FA9EC"/>
                </a:solidFill>
                <a:latin typeface="Calibri"/>
                <a:ea typeface="Calibri"/>
                <a:cs typeface="Calibri"/>
                <a:sym typeface="Calibri"/>
              </a:rPr>
              <a:t>PRÁCTICA · SISTEMAS MULTIAGENTE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2441398"/>
            <a:ext cx="100584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lang="en-US" sz="4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Sistema multiagente para la monitorización automática de precios online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Diagrama del sistema completo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B92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513" y="1522827"/>
            <a:ext cx="8350166" cy="4696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5720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Mensajería asíncrona FIPA-ACL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Georg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57200" y="2299723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2"/>
                </a:solidFill>
                <a:latin typeface="Calibri"/>
                <a:ea typeface="Calibri"/>
                <a:cs typeface="Calibri"/>
                <a:sym typeface="Calibri"/>
              </a:rPr>
              <a:t>Toda interacción es un mensaje ACL que viaja por la plataforma JADE, identificado por una performativa que define su intención.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57200" y="4114800"/>
            <a:ext cx="5486400" cy="914400"/>
          </a:xfrm>
          <a:prstGeom prst="rect">
            <a:avLst/>
          </a:prstGeom>
          <a:solidFill>
            <a:srgbClr val="EEEDFE"/>
          </a:solidFill>
          <a:ln cap="flat" cmpd="sng" w="12700">
            <a:solidFill>
              <a:srgbClr val="EEED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685800" y="420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85800" y="45262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craping, actualización, búsqueda de URLs.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57200" y="5212080"/>
            <a:ext cx="5486400" cy="91440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85800" y="5303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INFORM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85800" y="562356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HashMap&lt;Producto&gt;, lista de precios.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675120" y="1874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8B92"/>
                </a:solidFill>
                <a:latin typeface="Calibri"/>
                <a:ea typeface="Calibri"/>
                <a:cs typeface="Calibri"/>
                <a:sym typeface="Calibri"/>
              </a:rPr>
              <a:t>FLUJO DE UN PRODUCTO NUEVO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675120" y="233172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675120" y="2331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178040" y="23500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El usuario pulsa "Añadir Producto" en Pantalla1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675120" y="297180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675120" y="2971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178040" y="299008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AgenteInterfaz → AgenteProcesamiento: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675120" y="361188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675120" y="3611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178040" y="36301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AgenteProcesamiento → AgenteScrapper: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675120" y="425196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675120" y="4251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178040" y="427024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AgenteScrapper → AgenteProcesamiento: INFORM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675120" y="489204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675120" y="4892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178040" y="491032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AgenteProcesamiento → AgenteInterfaz: INFORM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675120" y="5532120"/>
            <a:ext cx="365760" cy="365760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675120" y="5532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178040" y="55504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Pantalla2 se actualiza con el precio detectado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B92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ARQUITECTURA DE AGENTES</a:t>
            </a:r>
            <a:endParaRPr b="1" i="0" sz="1400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609600" y="1143000"/>
            <a:ext cx="10972800" cy="4762500"/>
            <a:chOff x="609600" y="1143000"/>
            <a:chExt cx="10972800" cy="4762500"/>
          </a:xfrm>
        </p:grpSpPr>
        <p:sp>
          <p:nvSpPr>
            <p:cNvPr id="69" name="Google Shape;69;p6"/>
            <p:cNvSpPr/>
            <p:nvPr/>
          </p:nvSpPr>
          <p:spPr>
            <a:xfrm>
              <a:off x="609600" y="1143000"/>
              <a:ext cx="109728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609600" y="1143000"/>
              <a:ext cx="76200" cy="47625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 txBox="1"/>
            <p:nvPr/>
          </p:nvSpPr>
          <p:spPr>
            <a:xfrm>
              <a:off x="1066800" y="1524000"/>
              <a:ext cx="1005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45">
                  <a:solidFill>
                    <a:srgbClr val="1E293B"/>
                  </a:solidFill>
                  <a:latin typeface="Georgia"/>
                  <a:ea typeface="Georgia"/>
                  <a:cs typeface="Georgia"/>
                  <a:sym typeface="Georgia"/>
                </a:rPr>
                <a:t>Agente Procesamiento</a:t>
              </a:r>
              <a:endParaRPr sz="3445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39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Núcleo lógico. Mantiene el estado y toma decisiones.</a:t>
              </a:r>
              <a:endParaRPr i="1" sz="13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185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Gestión de Memoria</a:t>
              </a:r>
              <a:endParaRPr b="0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Almacena y mantiene los productos activos en la memoria del sistema.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185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Coordinación Temporal</a:t>
              </a:r>
              <a:endParaRPr b="0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Sincroniza y activa el scraper de forma automática cada 30 segundos.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save</a:t>
              </a:r>
              <a:endParaRPr sz="185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Persistencia de Datos</a:t>
              </a:r>
              <a:endParaRPr b="0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Registra y persiste todo el historial de cambios en archivos CSV locales.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ARQUITECTURA DE AGENTES</a:t>
            </a:r>
            <a:endParaRPr b="1" sz="1400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" name="Google Shape;78;p7"/>
          <p:cNvGrpSpPr/>
          <p:nvPr/>
        </p:nvGrpSpPr>
        <p:grpSpPr>
          <a:xfrm>
            <a:off x="609600" y="1093000"/>
            <a:ext cx="10972800" cy="4972050"/>
            <a:chOff x="609600" y="1143000"/>
            <a:chExt cx="10972800" cy="4762500"/>
          </a:xfrm>
        </p:grpSpPr>
        <p:sp>
          <p:nvSpPr>
            <p:cNvPr id="79" name="Google Shape;79;p7"/>
            <p:cNvSpPr/>
            <p:nvPr/>
          </p:nvSpPr>
          <p:spPr>
            <a:xfrm>
              <a:off x="609600" y="1143000"/>
              <a:ext cx="109728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609600" y="1143000"/>
              <a:ext cx="76200" cy="47625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 cap="flat" cmpd="sng" w="9525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" name="Google Shape;8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1700" y="3669318"/>
            <a:ext cx="2478875" cy="9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800" y="3752381"/>
            <a:ext cx="4096925" cy="82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/>
          <p:nvPr/>
        </p:nvSpPr>
        <p:spPr>
          <a:xfrm>
            <a:off x="1086564" y="1552950"/>
            <a:ext cx="10058400" cy="443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Agente Scrapper</a:t>
            </a:r>
            <a:endParaRPr sz="3400">
              <a:solidFill>
                <a:srgbClr val="1E293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Agente de percepción</a:t>
            </a:r>
            <a:r>
              <a:rPr b="0" i="1"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 Navegación programática y parseo de datos.</a:t>
            </a:r>
            <a:endParaRPr b="0" i="1" sz="13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ED7D3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public</a:t>
            </a:r>
            <a:endParaRPr b="0" sz="2000">
              <a:solidFill>
                <a:srgbClr val="ED7D3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Extracción de Precios</a:t>
            </a:r>
            <a:endParaRPr b="0" sz="14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Utiliza la librería Playwright </a:t>
            </a: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 Microsoft</a:t>
            </a: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para automatizar la navegación en </a:t>
            </a: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ebay</a:t>
            </a: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y extraer información en tiempo real.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ED7D3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reply_all</a:t>
            </a:r>
            <a:endParaRPr b="0" sz="2000">
              <a:solidFill>
                <a:srgbClr val="ED7D3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Comunicación de Resultados</a:t>
            </a:r>
            <a:endParaRPr b="0" sz="14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Formatea y devuelve la dupla de datos (url;precio) al Agente de Procesamiento para su posterior gestión y almacenamiento.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ARQUITECTURA DE AGENTES</a:t>
            </a:r>
            <a:endParaRPr b="1" sz="1400">
              <a:solidFill>
                <a:srgbClr val="1E40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0" name="Google Shape;90;p8"/>
          <p:cNvGrpSpPr/>
          <p:nvPr/>
        </p:nvGrpSpPr>
        <p:grpSpPr>
          <a:xfrm>
            <a:off x="609600" y="1143000"/>
            <a:ext cx="10972800" cy="4762500"/>
            <a:chOff x="609600" y="1143000"/>
            <a:chExt cx="10972800" cy="4762500"/>
          </a:xfrm>
        </p:grpSpPr>
        <p:sp>
          <p:nvSpPr>
            <p:cNvPr id="91" name="Google Shape;91;p8"/>
            <p:cNvSpPr/>
            <p:nvPr/>
          </p:nvSpPr>
          <p:spPr>
            <a:xfrm>
              <a:off x="609600" y="1143000"/>
              <a:ext cx="109728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09600" y="1143000"/>
              <a:ext cx="76200" cy="47625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 txBox="1"/>
            <p:nvPr/>
          </p:nvSpPr>
          <p:spPr>
            <a:xfrm>
              <a:off x="1066800" y="1524000"/>
              <a:ext cx="1005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410">
                  <a:solidFill>
                    <a:srgbClr val="1E293B"/>
                  </a:solidFill>
                  <a:latin typeface="Georgia"/>
                  <a:ea typeface="Georgia"/>
                  <a:cs typeface="Georgia"/>
                  <a:sym typeface="Georgia"/>
                </a:rPr>
                <a:t>Agente Interfaz</a:t>
              </a:r>
              <a:endParaRPr b="0" sz="341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139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Pasarela entre la GUI Swing y el sistema multiagente.</a:t>
              </a:r>
              <a:endParaRPr i="1" sz="13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600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3B82F6"/>
                  </a:solidFill>
                  <a:highlight>
                    <a:srgbClr val="EFF6FF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085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Interacción del Usuario</a:t>
              </a:r>
              <a:endParaRPr b="0" sz="13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8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Recibe y procesa las acciones directas del usuario final.</a:t>
              </a:r>
              <a:endParaRPr sz="108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3B82F6"/>
                  </a:solidFill>
                  <a:highlight>
                    <a:srgbClr val="EFF6FF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send</a:t>
              </a:r>
              <a:endParaRPr sz="1085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Comunicación de Solicitudes</a:t>
              </a:r>
              <a:endParaRPr b="0" sz="13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8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Envía REQUEST estructurados al Agente de Procesamiento.</a:t>
              </a:r>
              <a:endParaRPr sz="108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3B82F6"/>
                  </a:solidFill>
                  <a:highlight>
                    <a:srgbClr val="EFF6FF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1085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95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Gestión de la Vista</a:t>
              </a:r>
              <a:endParaRPr b="0" sz="13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8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Actualiza dinámicamente la interfaz gráfica con los nuevos datos recibidos.</a:t>
              </a:r>
              <a:endParaRPr sz="108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457200" y="71323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lang="en-US" sz="3200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Interfaz Gráfica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362560" y="1874520"/>
            <a:ext cx="3657600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636880" y="21031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DFE"/>
              </a:buClr>
              <a:buSzPts val="5600"/>
              <a:buFont typeface="Georgia"/>
              <a:buNone/>
            </a:pPr>
            <a:r>
              <a:rPr b="0" i="1" lang="en-US" sz="5600" u="none" cap="none" strike="noStrike">
                <a:solidFill>
                  <a:srgbClr val="EEEDF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636880" y="31546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Pantalla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3688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Alta de productos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36880" y="4206240"/>
            <a:ext cx="3291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2"/>
                </a:solidFill>
                <a:latin typeface="Calibri"/>
                <a:ea typeface="Calibri"/>
                <a:cs typeface="Calibri"/>
                <a:sym typeface="Calibri"/>
              </a:rPr>
              <a:t>El usuario pega la URL, escribe un nombre y fija el precio objetivo.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B92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60" y="1363420"/>
            <a:ext cx="6952334" cy="4954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/>
          <p:nvPr/>
        </p:nvSpPr>
        <p:spPr>
          <a:xfrm>
            <a:off x="457200" y="4114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457200" y="71323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lang="en-US" sz="3200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Interfaz Gráfica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50" y="1363425"/>
            <a:ext cx="6952350" cy="495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/>
          <p:nvPr/>
        </p:nvSpPr>
        <p:spPr>
          <a:xfrm>
            <a:off x="362555" y="1874520"/>
            <a:ext cx="3657600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636875" y="2103120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DFE"/>
              </a:buClr>
              <a:buSzPts val="5600"/>
              <a:buFont typeface="Georgia"/>
              <a:buNone/>
            </a:pPr>
            <a:r>
              <a:rPr b="0" i="1" lang="en-US" sz="5600" u="none" cap="none" strike="noStrike">
                <a:solidFill>
                  <a:srgbClr val="EEEDF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36875" y="3154680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Pantalla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636875" y="365760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Listado y alertas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636875" y="4206240"/>
            <a:ext cx="329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2"/>
                </a:solidFill>
                <a:latin typeface="Calibri"/>
                <a:ea typeface="Calibri"/>
                <a:cs typeface="Calibri"/>
                <a:sym typeface="Calibri"/>
              </a:rPr>
              <a:t>Tabla con los productos bajo seguimiento. Los botones cambian a rojo cuando el precio cruza el umbral configurado.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/>
          <p:nvPr/>
        </p:nvSpPr>
        <p:spPr>
          <a:xfrm>
            <a:off x="362543" y="1874520"/>
            <a:ext cx="3657600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636863" y="2103120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DFE"/>
              </a:buClr>
              <a:buSzPts val="5600"/>
              <a:buFont typeface="Georgia"/>
              <a:buNone/>
            </a:pPr>
            <a:r>
              <a:rPr b="0" i="1" lang="en-US" sz="5600" u="none" cap="none" strike="noStrike">
                <a:solidFill>
                  <a:srgbClr val="EEEDF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636863" y="3154680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Pantalla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636863" y="365760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Detalle histórico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636863" y="4206240"/>
            <a:ext cx="329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2"/>
                </a:solidFill>
                <a:latin typeface="Calibri"/>
                <a:ea typeface="Calibri"/>
                <a:cs typeface="Calibri"/>
                <a:sym typeface="Calibri"/>
              </a:rPr>
              <a:t>Histórico de precios para cada producto.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457200" y="4114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457200" y="71323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lang="en-US" sz="3200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Interfaz Gráfica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50" y="1363425"/>
            <a:ext cx="6952351" cy="49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914400" y="283464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b="0" i="1" lang="en-US" sz="8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Gracias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